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Roboto"/>
      <p:regular r:id="rId26"/>
      <p:bold r:id="rId27"/>
      <p:italic r:id="rId28"/>
      <p:boldItalic r:id="rId29"/>
    </p:embeddedFont>
    <p:embeddedFont>
      <p:font typeface="Lobster"/>
      <p:regular r:id="rId30"/>
    </p:embeddedFont>
    <p:embeddedFont>
      <p:font typeface="Playfair Display"/>
      <p:regular r:id="rId31"/>
      <p:bold r:id="rId32"/>
      <p:italic r:id="rId33"/>
      <p:boldItalic r:id="rId34"/>
    </p:embeddedFont>
    <p:embeddedFont>
      <p:font typeface="Montserrat"/>
      <p:regular r:id="rId35"/>
      <p:bold r:id="rId36"/>
      <p:italic r:id="rId37"/>
      <p:boldItalic r:id="rId38"/>
    </p:embeddedFont>
    <p:embeddedFont>
      <p:font typeface="Lato"/>
      <p:regular r:id="rId39"/>
      <p:bold r:id="rId40"/>
      <p:italic r:id="rId41"/>
      <p:boldItalic r:id="rId42"/>
    </p:embeddedFont>
    <p:embeddedFont>
      <p:font typeface="EB Garamond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bold.fntdata"/><Relationship Id="rId20" Type="http://schemas.openxmlformats.org/officeDocument/2006/relationships/slide" Target="slides/slide15.xml"/><Relationship Id="rId42" Type="http://schemas.openxmlformats.org/officeDocument/2006/relationships/font" Target="fonts/Lato-boldItalic.fntdata"/><Relationship Id="rId41" Type="http://schemas.openxmlformats.org/officeDocument/2006/relationships/font" Target="fonts/Lato-italic.fntdata"/><Relationship Id="rId22" Type="http://schemas.openxmlformats.org/officeDocument/2006/relationships/slide" Target="slides/slide17.xml"/><Relationship Id="rId44" Type="http://schemas.openxmlformats.org/officeDocument/2006/relationships/font" Target="fonts/EBGaramond-bold.fntdata"/><Relationship Id="rId21" Type="http://schemas.openxmlformats.org/officeDocument/2006/relationships/slide" Target="slides/slide16.xml"/><Relationship Id="rId43" Type="http://schemas.openxmlformats.org/officeDocument/2006/relationships/font" Target="fonts/EBGaramond-regular.fntdata"/><Relationship Id="rId24" Type="http://schemas.openxmlformats.org/officeDocument/2006/relationships/slide" Target="slides/slide19.xml"/><Relationship Id="rId46" Type="http://schemas.openxmlformats.org/officeDocument/2006/relationships/font" Target="fonts/EBGaramond-boldItalic.fntdata"/><Relationship Id="rId23" Type="http://schemas.openxmlformats.org/officeDocument/2006/relationships/slide" Target="slides/slide18.xml"/><Relationship Id="rId45" Type="http://schemas.openxmlformats.org/officeDocument/2006/relationships/font" Target="fonts/EBGaramond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regular.fntdata"/><Relationship Id="rId25" Type="http://schemas.openxmlformats.org/officeDocument/2006/relationships/slide" Target="slides/slide20.xml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layfairDisplay-regular.fntdata"/><Relationship Id="rId30" Type="http://schemas.openxmlformats.org/officeDocument/2006/relationships/font" Target="fonts/Lobster-regular.fntdata"/><Relationship Id="rId11" Type="http://schemas.openxmlformats.org/officeDocument/2006/relationships/slide" Target="slides/slide6.xml"/><Relationship Id="rId33" Type="http://schemas.openxmlformats.org/officeDocument/2006/relationships/font" Target="fonts/PlayfairDisplay-italic.fntdata"/><Relationship Id="rId10" Type="http://schemas.openxmlformats.org/officeDocument/2006/relationships/slide" Target="slides/slide5.xml"/><Relationship Id="rId32" Type="http://schemas.openxmlformats.org/officeDocument/2006/relationships/font" Target="fonts/PlayfairDisplay-bold.fntdata"/><Relationship Id="rId13" Type="http://schemas.openxmlformats.org/officeDocument/2006/relationships/slide" Target="slides/slide8.xml"/><Relationship Id="rId35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34" Type="http://schemas.openxmlformats.org/officeDocument/2006/relationships/font" Target="fonts/PlayfairDisplay-boldItalic.fntdata"/><Relationship Id="rId15" Type="http://schemas.openxmlformats.org/officeDocument/2006/relationships/slide" Target="slides/slide10.xml"/><Relationship Id="rId37" Type="http://schemas.openxmlformats.org/officeDocument/2006/relationships/font" Target="fonts/Montserrat-italic.fntdata"/><Relationship Id="rId14" Type="http://schemas.openxmlformats.org/officeDocument/2006/relationships/slide" Target="slides/slide9.xml"/><Relationship Id="rId36" Type="http://schemas.openxmlformats.org/officeDocument/2006/relationships/font" Target="fonts/Montserrat-bold.fntdata"/><Relationship Id="rId17" Type="http://schemas.openxmlformats.org/officeDocument/2006/relationships/slide" Target="slides/slide12.xml"/><Relationship Id="rId39" Type="http://schemas.openxmlformats.org/officeDocument/2006/relationships/font" Target="fonts/Lato-regular.fntdata"/><Relationship Id="rId16" Type="http://schemas.openxmlformats.org/officeDocument/2006/relationships/slide" Target="slides/slide11.xml"/><Relationship Id="rId38" Type="http://schemas.openxmlformats.org/officeDocument/2006/relationships/font" Target="fonts/Montserrat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6f3736a0c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6f3736a0c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6f5cba060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6f5cba060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6f5cba060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6f5cba060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ced383440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ced383440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F1F1F"/>
              </a:solidFill>
              <a:highlight>
                <a:schemeClr val="lt1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1F1F1F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6f5cba0600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6f5cba060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d106735a8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d106735a8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6f486a31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6f486a31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d0277e04e3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d0277e04e3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6f5cba060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6f5cba060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d0277e04e3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d0277e04e3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6fdb16a7d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6fdb16a7d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d0277e04e3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d0277e04e3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6f9302cc9b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6f9302cc9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6f9302cc9b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6f9302cc9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6f9302cc9b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26f9302cc9b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d0277e04e3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2d0277e04e3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6f9302cc9b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26f9302cc9b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d0277e04e3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2d0277e04e3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6fb7202eca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6fb7202eca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8.jpg"/><Relationship Id="rId4" Type="http://schemas.openxmlformats.org/officeDocument/2006/relationships/hyperlink" Target="https://www.inrotech.com/wp-content/uploads/2020/10/5DK_6992-scaled.jpg" TargetMode="External"/><Relationship Id="rId5" Type="http://schemas.openxmlformats.org/officeDocument/2006/relationships/image" Target="../media/image4.jpg"/><Relationship Id="rId6" Type="http://schemas.openxmlformats.org/officeDocument/2006/relationships/hyperlink" Target="https://static.turbosquid.com/Preview/2020/02/27__23_06_47/RoboticSurgicalSystem001.jpgBBDEC5E5-D657-4C7B-94D5-68252DE55849Default.jpg" TargetMode="External"/><Relationship Id="rId7" Type="http://schemas.openxmlformats.org/officeDocument/2006/relationships/image" Target="../media/image31.jpg"/><Relationship Id="rId8" Type="http://schemas.openxmlformats.org/officeDocument/2006/relationships/hyperlink" Target="https://www.twintecgroup.com/hs-fs/hubfs/Robot%20Warehouse.jpg?width=7400&amp;name=Robot%20Warehouse.jpg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jpg"/><Relationship Id="rId4" Type="http://schemas.openxmlformats.org/officeDocument/2006/relationships/hyperlink" Target="https://cdn.thenewstack.io/media/2017/10/f1235e26-mergeable-nervous-system-robots-1.jpeg" TargetMode="External"/><Relationship Id="rId5" Type="http://schemas.openxmlformats.org/officeDocument/2006/relationships/image" Target="../media/image23.jpg"/><Relationship Id="rId6" Type="http://schemas.openxmlformats.org/officeDocument/2006/relationships/hyperlink" Target="https://www.giantfreakinrobot.com/wp-content/uploads/2013/08/swarm-bots.jpg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jpg"/><Relationship Id="rId4" Type="http://schemas.openxmlformats.org/officeDocument/2006/relationships/hyperlink" Target="https://howtorobot.com/sites/default/files/2021-10/warehouse-robots.jpg" TargetMode="External"/><Relationship Id="rId5" Type="http://schemas.openxmlformats.org/officeDocument/2006/relationships/image" Target="../media/image2.jpg"/><Relationship Id="rId6" Type="http://schemas.openxmlformats.org/officeDocument/2006/relationships/hyperlink" Target="https://i.guim.co.uk/img/media/7aff2be7ee8e4c74dcde5b55f7de5456d43136aa/137_168_1520_912/master/1520.jpg?width=1200&amp;height=630&amp;quality=85&amp;auto=format&amp;fit=crop&amp;overlay-align=bottom%2Cleft&amp;overlay-width=100p&amp;overlay-base64=L2ltZy9zdGF0aWMvb3ZlcmxheXMvdGctZGVmYXVsdC5wbmc&amp;s=3b1994466f2f66e0d3fe73271b903d08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hyperlink" Target="http://drive.google.com/file/d/1K0850PaJdVfUrF6yGOyJPtgvv9_TpBUV/view" TargetMode="External"/><Relationship Id="rId5" Type="http://schemas.openxmlformats.org/officeDocument/2006/relationships/image" Target="../media/image1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Relationship Id="rId4" Type="http://schemas.openxmlformats.org/officeDocument/2006/relationships/hyperlink" Target="http://drive.google.com/file/d/1oOAlCH7eSZIaeU4p26ZqjDS59liiJisZ/view" TargetMode="External"/><Relationship Id="rId5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8.png"/><Relationship Id="rId6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jpg"/><Relationship Id="rId4" Type="http://schemas.openxmlformats.org/officeDocument/2006/relationships/hyperlink" Target="http://drive.google.com/file/d/1YZLgZktmoIx0o1UYwrTnr1Wgvj03QANr/view" TargetMode="External"/><Relationship Id="rId5" Type="http://schemas.openxmlformats.org/officeDocument/2006/relationships/image" Target="../media/image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Relationship Id="rId4" Type="http://schemas.openxmlformats.org/officeDocument/2006/relationships/image" Target="../media/image19.png"/><Relationship Id="rId5" Type="http://schemas.openxmlformats.org/officeDocument/2006/relationships/image" Target="../media/image27.png"/><Relationship Id="rId6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jpg"/><Relationship Id="rId4" Type="http://schemas.openxmlformats.org/officeDocument/2006/relationships/hyperlink" Target="http://drive.google.com/file/d/14o4EvwJBncmXkB_snmUo_PH7vaprOxtf/view" TargetMode="External"/><Relationship Id="rId5" Type="http://schemas.openxmlformats.org/officeDocument/2006/relationships/image" Target="../media/image2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0.png"/><Relationship Id="rId4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jpg"/><Relationship Id="rId4" Type="http://schemas.openxmlformats.org/officeDocument/2006/relationships/hyperlink" Target="http://drive.google.com/file/d/1RE1q2PUjEkKF6qVngffHcq-4e0vPif-t/view" TargetMode="External"/><Relationship Id="rId5" Type="http://schemas.openxmlformats.org/officeDocument/2006/relationships/image" Target="../media/image20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/>
              <a:t>Addressing Actuator Delays in Networked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Robotic Systems</a:t>
            </a:r>
            <a:endParaRPr i="1" sz="2200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rtl="0" algn="r">
              <a:spcBef>
                <a:spcPts val="0"/>
              </a:spcBef>
              <a:spcAft>
                <a:spcPts val="0"/>
              </a:spcAft>
              <a:buClr>
                <a:srgbClr val="A4C2F4"/>
              </a:buClr>
              <a:buSzPts val="2200"/>
              <a:buChar char="-"/>
            </a:pPr>
            <a:r>
              <a:rPr lang="en" sz="2200">
                <a:solidFill>
                  <a:srgbClr val="A4C2F4"/>
                </a:solidFill>
              </a:rPr>
              <a:t>Skandhan K</a:t>
            </a:r>
            <a:endParaRPr sz="2200">
              <a:solidFill>
                <a:srgbClr val="A4C2F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311700" y="44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Introduction: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604650" y="479025"/>
            <a:ext cx="8227500" cy="45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Networked control systems (NCS) have revolutionized automation by enabling remote control and data exchange between multiple systems. Network controlled systems (NCS) are becoming increasingly essential across a wide range of applications including: Industrial Automation, Environmental Monitoring, Telesurgery and Remote Healthcare, Process Control etc. </a:t>
            </a:r>
            <a:endParaRPr sz="1200"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In these applications, the components of NCS communicate and collaborate with each other to function as a cohesive unit. By working together, robots can tackle tasks that are beyond the capacity of a single robot.</a:t>
            </a:r>
            <a:endParaRPr sz="1200"/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475" y="1740675"/>
            <a:ext cx="2926326" cy="190299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4"/>
          <p:cNvSpPr txBox="1"/>
          <p:nvPr/>
        </p:nvSpPr>
        <p:spPr>
          <a:xfrm>
            <a:off x="361225" y="3431625"/>
            <a:ext cx="26541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lt1"/>
                </a:solidFill>
              </a:rPr>
              <a:t>SOURCE : </a:t>
            </a:r>
            <a:r>
              <a:rPr lang="en" sz="500" u="sng">
                <a:solidFill>
                  <a:schemeClr val="hlink"/>
                </a:solidFill>
                <a:hlinkClick r:id="rId4"/>
              </a:rPr>
              <a:t>https://www.inrotech.com/wp-content/uploads/2020/10/5DK_6992-scaled.jpg</a:t>
            </a:r>
            <a:endParaRPr sz="500">
              <a:solidFill>
                <a:schemeClr val="lt1"/>
              </a:solidFill>
            </a:endParaRPr>
          </a:p>
        </p:txBody>
      </p:sp>
      <p:pic>
        <p:nvPicPr>
          <p:cNvPr id="144" name="Google Shape;14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01800" y="1740675"/>
            <a:ext cx="3149875" cy="19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4"/>
          <p:cNvSpPr txBox="1"/>
          <p:nvPr/>
        </p:nvSpPr>
        <p:spPr>
          <a:xfrm>
            <a:off x="3078188" y="3376725"/>
            <a:ext cx="31971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FF0000"/>
                </a:solidFill>
              </a:rPr>
              <a:t>SOURCE : </a:t>
            </a:r>
            <a:r>
              <a:rPr lang="en" sz="500" u="sng">
                <a:solidFill>
                  <a:schemeClr val="hlink"/>
                </a:solidFill>
                <a:hlinkClick r:id="rId6"/>
              </a:rPr>
              <a:t>https://static.turbosquid.com/Preview/2020/02/27__23_06_47/RoboticSurgicalSystem001.jpgBBDEC5E5-D657-4C7B-94D5-68252DE55849Default.jpg</a:t>
            </a:r>
            <a:endParaRPr sz="500">
              <a:solidFill>
                <a:srgbClr val="FF0000"/>
              </a:solidFill>
            </a:endParaRPr>
          </a:p>
        </p:txBody>
      </p:sp>
      <p:pic>
        <p:nvPicPr>
          <p:cNvPr id="146" name="Google Shape;146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77375" y="1795625"/>
            <a:ext cx="2693202" cy="190299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4"/>
          <p:cNvSpPr txBox="1"/>
          <p:nvPr/>
        </p:nvSpPr>
        <p:spPr>
          <a:xfrm>
            <a:off x="6377375" y="3376725"/>
            <a:ext cx="22764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FFFFFF"/>
                </a:solidFill>
              </a:rPr>
              <a:t>SOURCE: </a:t>
            </a:r>
            <a:r>
              <a:rPr lang="en" sz="500" u="sng">
                <a:solidFill>
                  <a:schemeClr val="hlink"/>
                </a:solidFill>
                <a:hlinkClick r:id="rId8"/>
              </a:rPr>
              <a:t>https://www.twintecgroup.com/hs-fs/hubfs/Robot%20Warehouse.jpg?width=7400&amp;name=Robot%20Warehouse.jpg</a:t>
            </a:r>
            <a:endParaRPr sz="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 graph simulations:</a:t>
            </a:r>
            <a:endParaRPr/>
          </a:p>
        </p:txBody>
      </p:sp>
      <p:sp>
        <p:nvSpPr>
          <p:cNvPr id="153" name="Google Shape;153;p15"/>
          <p:cNvSpPr txBox="1"/>
          <p:nvPr>
            <p:ph idx="1" type="body"/>
          </p:nvPr>
        </p:nvSpPr>
        <p:spPr>
          <a:xfrm>
            <a:off x="311700" y="1097500"/>
            <a:ext cx="4313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Centralized: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All the network agents receive information from a central source that </a:t>
            </a:r>
            <a:r>
              <a:rPr lang="en" sz="1600"/>
              <a:t>assigns tasks and manages communication.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Easy to maintain the flow of information and simple to design.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4" name="Google Shape;154;p15"/>
          <p:cNvSpPr txBox="1"/>
          <p:nvPr>
            <p:ph idx="1" type="body"/>
          </p:nvPr>
        </p:nvSpPr>
        <p:spPr>
          <a:xfrm>
            <a:off x="4786225" y="1058525"/>
            <a:ext cx="3747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Dec</a:t>
            </a:r>
            <a:r>
              <a:rPr lang="en" sz="1700"/>
              <a:t>entralized:</a:t>
            </a:r>
            <a:endParaRPr sz="17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All the network agents function independently, by deciding based on local information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Complex in its structure, though being reliable and scalable.</a:t>
            </a:r>
            <a:endParaRPr sz="1700"/>
          </a:p>
        </p:txBody>
      </p:sp>
      <p:sp>
        <p:nvSpPr>
          <p:cNvPr id="155" name="Google Shape;155;p15"/>
          <p:cNvSpPr txBox="1"/>
          <p:nvPr>
            <p:ph idx="1" type="body"/>
          </p:nvPr>
        </p:nvSpPr>
        <p:spPr>
          <a:xfrm>
            <a:off x="196050" y="4410825"/>
            <a:ext cx="4808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This presentation is focussed on addressing the constraints of  the decentralized networked robots (control systems)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Formation Network Control and its applications</a:t>
            </a:r>
            <a:endParaRPr/>
          </a:p>
        </p:txBody>
      </p:sp>
      <p:sp>
        <p:nvSpPr>
          <p:cNvPr id="161" name="Google Shape;161;p16"/>
          <p:cNvSpPr txBox="1"/>
          <p:nvPr>
            <p:ph idx="1" type="body"/>
          </p:nvPr>
        </p:nvSpPr>
        <p:spPr>
          <a:xfrm>
            <a:off x="855950" y="1152475"/>
            <a:ext cx="7976400" cy="37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concept of Formation Control is particularly important in these distributed, yet synchronized tasks. Formation control specifically deals with maintaining a desired spatial arrangement between multiple robots or systems within an NCS.</a:t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With </a:t>
            </a:r>
            <a:r>
              <a:rPr i="1" lang="en" sz="1200"/>
              <a:t>Divide &amp; Conquer</a:t>
            </a:r>
            <a:r>
              <a:rPr lang="en" sz="1200"/>
              <a:t> approach at its heart, the network of systems automate complex tasks, reduce downtime and improve overall resource utilization.</a:t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F1F1F"/>
              </a:solidFill>
              <a:highlight>
                <a:schemeClr val="lt1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200">
                <a:solidFill>
                  <a:srgbClr val="1F1F1F"/>
                </a:solidFill>
                <a:highlight>
                  <a:schemeClr val="lt1"/>
                </a:highlight>
              </a:rPr>
            </a:br>
            <a:endParaRPr sz="1200">
              <a:solidFill>
                <a:srgbClr val="1F1F1F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2" name="Google Shape;16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250" y="2080925"/>
            <a:ext cx="3865127" cy="216737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6"/>
          <p:cNvSpPr txBox="1"/>
          <p:nvPr/>
        </p:nvSpPr>
        <p:spPr>
          <a:xfrm>
            <a:off x="485250" y="3997025"/>
            <a:ext cx="3447300" cy="1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lt1"/>
                </a:solidFill>
              </a:rPr>
              <a:t>SOURCE : </a:t>
            </a:r>
            <a:r>
              <a:rPr lang="en" sz="500" u="sng">
                <a:solidFill>
                  <a:schemeClr val="hlink"/>
                </a:solidFill>
                <a:hlinkClick r:id="rId4"/>
              </a:rPr>
              <a:t>https://cdn.thenewstack.io/media/2017/10/f1235e26-mergeable-nervous-system-robots-1.jpeg</a:t>
            </a:r>
            <a:endParaRPr sz="500">
              <a:solidFill>
                <a:schemeClr val="lt1"/>
              </a:solidFill>
            </a:endParaRPr>
          </a:p>
        </p:txBody>
      </p:sp>
      <p:pic>
        <p:nvPicPr>
          <p:cNvPr id="164" name="Google Shape;164;p16"/>
          <p:cNvPicPr preferRelativeResize="0"/>
          <p:nvPr/>
        </p:nvPicPr>
        <p:blipFill rotWithShape="1">
          <a:blip r:embed="rId5">
            <a:alphaModFix/>
          </a:blip>
          <a:srcRect b="0" l="-1792" r="0" t="0"/>
          <a:stretch/>
        </p:blipFill>
        <p:spPr>
          <a:xfrm>
            <a:off x="4311125" y="2080925"/>
            <a:ext cx="3865124" cy="2167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6"/>
          <p:cNvSpPr txBox="1"/>
          <p:nvPr/>
        </p:nvSpPr>
        <p:spPr>
          <a:xfrm>
            <a:off x="4884350" y="3965600"/>
            <a:ext cx="32196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FF0000"/>
                </a:solidFill>
              </a:rPr>
              <a:t>SOURCE: </a:t>
            </a:r>
            <a:r>
              <a:rPr lang="en" sz="500" u="sng">
                <a:solidFill>
                  <a:schemeClr val="hlink"/>
                </a:solidFill>
                <a:hlinkClick r:id="rId6"/>
              </a:rPr>
              <a:t>https://www.giantfreakinrobot.com/wp-content/uploads/2013/08/swarm-bots.jpg</a:t>
            </a:r>
            <a:endParaRPr sz="5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/>
          <p:nvPr>
            <p:ph idx="1" type="body"/>
          </p:nvPr>
        </p:nvSpPr>
        <p:spPr>
          <a:xfrm>
            <a:off x="920525" y="672650"/>
            <a:ext cx="7833300" cy="396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Inherent delays involved in the process, are a major challenge to NCS.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</a:t>
            </a:r>
            <a:r>
              <a:rPr lang="en" sz="1200"/>
              <a:t>ctuator delays hold a special significance as they represent the final hurdle in translating a control signal into a physical action. These delays can have cascading effects within the NCS. </a:t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Loss in the synchronised motion can lead to a complete breakdown of the operation, if robots in a formation are tasked with assembling a complex structure. Eventually the entire assembly process can grind to a halt.</a:t>
            </a:r>
            <a:endParaRPr sz="1200"/>
          </a:p>
        </p:txBody>
      </p:sp>
      <p:sp>
        <p:nvSpPr>
          <p:cNvPr id="171" name="Google Shape;171;p17"/>
          <p:cNvSpPr txBox="1"/>
          <p:nvPr>
            <p:ph type="title"/>
          </p:nvPr>
        </p:nvSpPr>
        <p:spPr>
          <a:xfrm>
            <a:off x="311700" y="99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Practical issue - delays</a:t>
            </a:r>
            <a:endParaRPr/>
          </a:p>
        </p:txBody>
      </p:sp>
      <p:pic>
        <p:nvPicPr>
          <p:cNvPr id="172" name="Google Shape;17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676675"/>
            <a:ext cx="3375650" cy="212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7"/>
          <p:cNvSpPr txBox="1"/>
          <p:nvPr/>
        </p:nvSpPr>
        <p:spPr>
          <a:xfrm>
            <a:off x="4960200" y="3467100"/>
            <a:ext cx="18297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lt1"/>
                </a:solidFill>
              </a:rPr>
              <a:t>SOURCE: </a:t>
            </a:r>
            <a:r>
              <a:rPr lang="en" sz="500" u="sng">
                <a:solidFill>
                  <a:schemeClr val="hlink"/>
                </a:solidFill>
                <a:hlinkClick r:id="rId4"/>
              </a:rPr>
              <a:t>https://howtorobot.com/sites/default/files/2021-10/warehouse-robots.jpg</a:t>
            </a:r>
            <a:endParaRPr sz="500">
              <a:solidFill>
                <a:schemeClr val="lt1"/>
              </a:solidFill>
            </a:endParaRPr>
          </a:p>
        </p:txBody>
      </p:sp>
      <p:pic>
        <p:nvPicPr>
          <p:cNvPr id="174" name="Google Shape;174;p17"/>
          <p:cNvPicPr preferRelativeResize="0"/>
          <p:nvPr/>
        </p:nvPicPr>
        <p:blipFill rotWithShape="1">
          <a:blip r:embed="rId5">
            <a:alphaModFix/>
          </a:blip>
          <a:srcRect b="9682" l="0" r="35421" t="0"/>
          <a:stretch/>
        </p:blipFill>
        <p:spPr>
          <a:xfrm>
            <a:off x="920525" y="1676675"/>
            <a:ext cx="3614961" cy="2120249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/>
          <p:cNvSpPr txBox="1"/>
          <p:nvPr/>
        </p:nvSpPr>
        <p:spPr>
          <a:xfrm>
            <a:off x="994500" y="3349200"/>
            <a:ext cx="28425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lt1"/>
                </a:solidFill>
              </a:rPr>
              <a:t>SOURCE : </a:t>
            </a:r>
            <a:r>
              <a:rPr lang="en" sz="500" u="sng">
                <a:solidFill>
                  <a:schemeClr val="hlink"/>
                </a:solidFill>
                <a:hlinkClick r:id="rId6"/>
              </a:rPr>
              <a:t>https://i.guim.co.uk/img/media/7aff2be7ee8e4c74dcde5b55f7de5456d43136aa/137_168_1520_912/master/1520.jpg?width=1200&amp;height=630&amp;quality=85&amp;auto=format&amp;fit=crop&amp;overlay-align=bottom%2Cleft&amp;overlay-width=100p&amp;overlay-base64=L2ltZy9zdGF0aWMvb3ZlcmxheXMvdGctZGVmYXVsdC5wbmc&amp;s=3b1994466f2f66e0d3fe73271b903d08</a:t>
            </a:r>
            <a:endParaRPr sz="500">
              <a:solidFill>
                <a:schemeClr val="lt1"/>
              </a:solidFill>
            </a:endParaRPr>
          </a:p>
        </p:txBody>
      </p:sp>
      <p:sp>
        <p:nvSpPr>
          <p:cNvPr id="176" name="Google Shape;176;p17"/>
          <p:cNvSpPr txBox="1"/>
          <p:nvPr/>
        </p:nvSpPr>
        <p:spPr>
          <a:xfrm>
            <a:off x="1782550" y="4562400"/>
            <a:ext cx="56412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Goal : Addressing the actuator delay in robotic systems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"/>
          <p:cNvSpPr txBox="1"/>
          <p:nvPr>
            <p:ph type="title"/>
          </p:nvPr>
        </p:nvSpPr>
        <p:spPr>
          <a:xfrm>
            <a:off x="1297500" y="393750"/>
            <a:ext cx="7038900" cy="6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82" name="Google Shape;182;p18"/>
          <p:cNvSpPr txBox="1"/>
          <p:nvPr>
            <p:ph idx="1" type="body"/>
          </p:nvPr>
        </p:nvSpPr>
        <p:spPr>
          <a:xfrm>
            <a:off x="748700" y="1325175"/>
            <a:ext cx="7363200" cy="3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Standard Consensus-based formation control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Cohesive formation control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Delay in physical systems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Effect of delay on cohesive approach - loss of cohesion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Compensating delay for cohesive formation control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Example path graph:</a:t>
            </a:r>
            <a:endParaRPr/>
          </a:p>
        </p:txBody>
      </p:sp>
      <p:sp>
        <p:nvSpPr>
          <p:cNvPr id="188" name="Google Shape;188;p19"/>
          <p:cNvSpPr txBox="1"/>
          <p:nvPr>
            <p:ph idx="1" type="body"/>
          </p:nvPr>
        </p:nvSpPr>
        <p:spPr>
          <a:xfrm>
            <a:off x="1795050" y="1567550"/>
            <a:ext cx="6541200" cy="2911200"/>
          </a:xfrm>
          <a:prstGeom prst="rect">
            <a:avLst/>
          </a:prstGeom>
          <a:effectLst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v</a:t>
            </a:r>
            <a:r>
              <a:rPr baseline="-25000" lang="en"/>
              <a:t>3</a:t>
            </a:r>
            <a:r>
              <a:rPr lang="en"/>
              <a:t>= - α(v</a:t>
            </a:r>
            <a:r>
              <a:rPr baseline="-25000" lang="en"/>
              <a:t>3</a:t>
            </a:r>
            <a:r>
              <a:rPr lang="en"/>
              <a:t> - v</a:t>
            </a:r>
            <a:r>
              <a:rPr baseline="-25000" lang="en"/>
              <a:t>2</a:t>
            </a:r>
            <a:r>
              <a:rPr lang="en"/>
              <a:t>)</a:t>
            </a:r>
            <a:r>
              <a:rPr baseline="-25000" lang="en" sz="1500"/>
              <a:t>      </a:t>
            </a:r>
            <a:endParaRPr baseline="-25000"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" sz="1500"/>
              <a:t>      </a:t>
            </a:r>
            <a:endParaRPr baseline="-25000"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v</a:t>
            </a:r>
            <a:r>
              <a:rPr baseline="-25000" lang="en"/>
              <a:t>2</a:t>
            </a:r>
            <a:r>
              <a:rPr lang="en"/>
              <a:t>= - α((v</a:t>
            </a:r>
            <a:r>
              <a:rPr baseline="-25000" lang="en"/>
              <a:t>2</a:t>
            </a:r>
            <a:r>
              <a:rPr lang="en"/>
              <a:t> - v</a:t>
            </a:r>
            <a:r>
              <a:rPr baseline="-25000" lang="en"/>
              <a:t>3 </a:t>
            </a:r>
            <a:r>
              <a:rPr lang="en"/>
              <a:t>) +</a:t>
            </a:r>
            <a:r>
              <a:rPr baseline="-25000" lang="en" sz="1500"/>
              <a:t>   </a:t>
            </a:r>
            <a:r>
              <a:rPr lang="en"/>
              <a:t>(v</a:t>
            </a:r>
            <a:r>
              <a:rPr baseline="-25000" lang="en"/>
              <a:t>2</a:t>
            </a:r>
            <a:r>
              <a:rPr lang="en"/>
              <a:t> - v</a:t>
            </a:r>
            <a:r>
              <a:rPr baseline="-25000" lang="en"/>
              <a:t>1 </a:t>
            </a:r>
            <a:r>
              <a:rPr lang="en"/>
              <a:t>))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v</a:t>
            </a:r>
            <a:r>
              <a:rPr baseline="-25000" lang="en"/>
              <a:t>1</a:t>
            </a:r>
            <a:r>
              <a:rPr lang="en"/>
              <a:t>= - α((v</a:t>
            </a:r>
            <a:r>
              <a:rPr baseline="-25000" lang="en"/>
              <a:t>1</a:t>
            </a:r>
            <a:r>
              <a:rPr lang="en"/>
              <a:t> - v</a:t>
            </a:r>
            <a:r>
              <a:rPr baseline="-25000" lang="en"/>
              <a:t>2 </a:t>
            </a:r>
            <a:r>
              <a:rPr lang="en"/>
              <a:t>) +</a:t>
            </a:r>
            <a:r>
              <a:rPr baseline="-25000" lang="en" sz="1500"/>
              <a:t>   </a:t>
            </a:r>
            <a:r>
              <a:rPr lang="en"/>
              <a:t>(v</a:t>
            </a:r>
            <a:r>
              <a:rPr baseline="-25000" lang="en"/>
              <a:t>1</a:t>
            </a:r>
            <a:r>
              <a:rPr lang="en"/>
              <a:t> - v</a:t>
            </a:r>
            <a:r>
              <a:rPr baseline="-25000" lang="en"/>
              <a:t>4 </a:t>
            </a:r>
            <a:r>
              <a:rPr lang="en"/>
              <a:t>) + (v</a:t>
            </a:r>
            <a:r>
              <a:rPr baseline="-25000" lang="en"/>
              <a:t>1</a:t>
            </a:r>
            <a:r>
              <a:rPr lang="en"/>
              <a:t> - v</a:t>
            </a:r>
            <a:r>
              <a:rPr baseline="-25000" lang="en"/>
              <a:t>d </a:t>
            </a:r>
            <a:r>
              <a:rPr lang="en"/>
              <a:t>))</a:t>
            </a:r>
            <a:r>
              <a:rPr baseline="-25000" lang="en" sz="1500"/>
              <a:t>   </a:t>
            </a:r>
            <a:endParaRPr baseline="-25000"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" sz="1500"/>
              <a:t>       </a:t>
            </a:r>
            <a:r>
              <a:rPr lang="en"/>
              <a:t>v</a:t>
            </a:r>
            <a:r>
              <a:rPr baseline="-25000" lang="en"/>
              <a:t>4</a:t>
            </a:r>
            <a:r>
              <a:rPr lang="en"/>
              <a:t>= - α((v</a:t>
            </a:r>
            <a:r>
              <a:rPr baseline="-25000" lang="en"/>
              <a:t>4</a:t>
            </a:r>
            <a:r>
              <a:rPr lang="en"/>
              <a:t> - v</a:t>
            </a:r>
            <a:r>
              <a:rPr baseline="-25000" lang="en"/>
              <a:t>5 </a:t>
            </a:r>
            <a:r>
              <a:rPr lang="en"/>
              <a:t>) +</a:t>
            </a:r>
            <a:r>
              <a:rPr baseline="-25000" lang="en" sz="1500"/>
              <a:t>   </a:t>
            </a:r>
            <a:r>
              <a:rPr lang="en"/>
              <a:t>(v</a:t>
            </a:r>
            <a:r>
              <a:rPr baseline="-25000" lang="en"/>
              <a:t>4</a:t>
            </a:r>
            <a:r>
              <a:rPr lang="en"/>
              <a:t> - v</a:t>
            </a:r>
            <a:r>
              <a:rPr baseline="-25000" lang="en"/>
              <a:t>1 </a:t>
            </a:r>
            <a:r>
              <a:rPr lang="en"/>
              <a:t>))</a:t>
            </a:r>
            <a:r>
              <a:rPr baseline="-25000" lang="en" sz="1500"/>
              <a:t> </a:t>
            </a:r>
            <a:endParaRPr baseline="-25000"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" sz="1500"/>
              <a:t>       </a:t>
            </a:r>
            <a:endParaRPr baseline="-25000"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" sz="1500"/>
              <a:t>       </a:t>
            </a:r>
            <a:r>
              <a:rPr lang="en"/>
              <a:t>v</a:t>
            </a:r>
            <a:r>
              <a:rPr baseline="-25000" lang="en"/>
              <a:t>4</a:t>
            </a:r>
            <a:r>
              <a:rPr lang="en"/>
              <a:t>= - α((v</a:t>
            </a:r>
            <a:r>
              <a:rPr baseline="-25000" lang="en"/>
              <a:t>4</a:t>
            </a:r>
            <a:r>
              <a:rPr lang="en"/>
              <a:t> - v</a:t>
            </a:r>
            <a:r>
              <a:rPr baseline="-25000" lang="en"/>
              <a:t>5 </a:t>
            </a:r>
            <a:r>
              <a:rPr lang="en"/>
              <a:t>) +</a:t>
            </a:r>
            <a:r>
              <a:rPr baseline="-25000" lang="en" sz="1500"/>
              <a:t>   </a:t>
            </a:r>
            <a:r>
              <a:rPr lang="en"/>
              <a:t>(v</a:t>
            </a:r>
            <a:r>
              <a:rPr baseline="-25000" lang="en"/>
              <a:t>4</a:t>
            </a:r>
            <a:r>
              <a:rPr lang="en"/>
              <a:t> - v</a:t>
            </a:r>
            <a:r>
              <a:rPr baseline="-25000" lang="en"/>
              <a:t>1 </a:t>
            </a:r>
            <a:r>
              <a:rPr lang="en"/>
              <a:t>))</a:t>
            </a:r>
            <a:r>
              <a:rPr baseline="-25000" lang="en" sz="1500"/>
              <a:t>   </a:t>
            </a:r>
            <a:endParaRPr baseline="-25000" sz="1500"/>
          </a:p>
        </p:txBody>
      </p:sp>
      <p:sp>
        <p:nvSpPr>
          <p:cNvPr id="189" name="Google Shape;189;p19"/>
          <p:cNvSpPr/>
          <p:nvPr/>
        </p:nvSpPr>
        <p:spPr>
          <a:xfrm>
            <a:off x="687150" y="2477400"/>
            <a:ext cx="195600" cy="1887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757950" y="2699800"/>
            <a:ext cx="54000" cy="158100"/>
          </a:xfrm>
          <a:prstGeom prst="up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687150" y="2891600"/>
            <a:ext cx="195600" cy="1887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757950" y="3148800"/>
            <a:ext cx="54000" cy="158100"/>
          </a:xfrm>
          <a:prstGeom prst="up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687150" y="3340600"/>
            <a:ext cx="195600" cy="1887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687150" y="1614200"/>
            <a:ext cx="195600" cy="1887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757950" y="1836600"/>
            <a:ext cx="54000" cy="158100"/>
          </a:xfrm>
          <a:prstGeom prst="up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687150" y="2028400"/>
            <a:ext cx="195600" cy="1887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757950" y="2285600"/>
            <a:ext cx="54000" cy="158100"/>
          </a:xfrm>
          <a:prstGeom prst="up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8" name="Google Shape;198;p19"/>
          <p:cNvSpPr txBox="1"/>
          <p:nvPr/>
        </p:nvSpPr>
        <p:spPr>
          <a:xfrm>
            <a:off x="924875" y="2441650"/>
            <a:ext cx="141600" cy="1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643375" y="1510025"/>
            <a:ext cx="3084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endParaRPr sz="1300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643375" y="1939900"/>
            <a:ext cx="3084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sz="1300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1" name="Google Shape;201;p19"/>
          <p:cNvSpPr txBox="1"/>
          <p:nvPr/>
        </p:nvSpPr>
        <p:spPr>
          <a:xfrm>
            <a:off x="643375" y="2371500"/>
            <a:ext cx="3084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sz="1300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643375" y="2803100"/>
            <a:ext cx="3084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endParaRPr sz="1300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3" name="Google Shape;203;p19"/>
          <p:cNvSpPr txBox="1"/>
          <p:nvPr/>
        </p:nvSpPr>
        <p:spPr>
          <a:xfrm>
            <a:off x="630750" y="3234700"/>
            <a:ext cx="3084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endParaRPr sz="1300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04" name="Google Shape;204;p19"/>
          <p:cNvCxnSpPr>
            <a:endCxn id="201" idx="1"/>
          </p:cNvCxnSpPr>
          <p:nvPr/>
        </p:nvCxnSpPr>
        <p:spPr>
          <a:xfrm>
            <a:off x="163075" y="2569650"/>
            <a:ext cx="480300" cy="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5" name="Google Shape;205;p19"/>
          <p:cNvSpPr txBox="1"/>
          <p:nvPr/>
        </p:nvSpPr>
        <p:spPr>
          <a:xfrm>
            <a:off x="215475" y="2157488"/>
            <a:ext cx="375600" cy="286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aseline="-25000" lang="en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</a:t>
            </a:r>
            <a:endParaRPr baseline="-25000"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06" name="Google Shape;206;p19"/>
          <p:cNvCxnSpPr/>
          <p:nvPr/>
        </p:nvCxnSpPr>
        <p:spPr>
          <a:xfrm>
            <a:off x="939150" y="1707500"/>
            <a:ext cx="480300" cy="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" name="Google Shape;207;p19"/>
          <p:cNvCxnSpPr/>
          <p:nvPr/>
        </p:nvCxnSpPr>
        <p:spPr>
          <a:xfrm>
            <a:off x="951775" y="2139100"/>
            <a:ext cx="480300" cy="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8" name="Google Shape;208;p19"/>
          <p:cNvCxnSpPr/>
          <p:nvPr/>
        </p:nvCxnSpPr>
        <p:spPr>
          <a:xfrm>
            <a:off x="939150" y="2570700"/>
            <a:ext cx="480300" cy="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" name="Google Shape;209;p19"/>
          <p:cNvCxnSpPr/>
          <p:nvPr/>
        </p:nvCxnSpPr>
        <p:spPr>
          <a:xfrm>
            <a:off x="951775" y="3002300"/>
            <a:ext cx="480300" cy="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" name="Google Shape;210;p19"/>
          <p:cNvCxnSpPr/>
          <p:nvPr/>
        </p:nvCxnSpPr>
        <p:spPr>
          <a:xfrm>
            <a:off x="924875" y="3433900"/>
            <a:ext cx="480300" cy="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1" name="Google Shape;211;p19"/>
          <p:cNvSpPr txBox="1"/>
          <p:nvPr/>
        </p:nvSpPr>
        <p:spPr>
          <a:xfrm>
            <a:off x="1419450" y="1510013"/>
            <a:ext cx="375600" cy="286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aseline="-25000" lang="en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endParaRPr baseline="-25000"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2" name="Google Shape;212;p19"/>
          <p:cNvSpPr txBox="1"/>
          <p:nvPr/>
        </p:nvSpPr>
        <p:spPr>
          <a:xfrm>
            <a:off x="1419450" y="1939888"/>
            <a:ext cx="375600" cy="286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aseline="-25000" lang="en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baseline="-25000"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1400275" y="2369763"/>
            <a:ext cx="375600" cy="286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aseline="-25000" lang="en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baseline="-25000"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4" name="Google Shape;214;p19"/>
          <p:cNvSpPr txBox="1"/>
          <p:nvPr/>
        </p:nvSpPr>
        <p:spPr>
          <a:xfrm>
            <a:off x="1419450" y="2799638"/>
            <a:ext cx="375600" cy="286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aseline="-25000" lang="en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endParaRPr baseline="-25000"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5" name="Google Shape;215;p19"/>
          <p:cNvSpPr txBox="1"/>
          <p:nvPr/>
        </p:nvSpPr>
        <p:spPr>
          <a:xfrm>
            <a:off x="1400275" y="3229513"/>
            <a:ext cx="375600" cy="286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aseline="-25000" lang="en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endParaRPr baseline="-25000"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Standard Consensus-based formation control</a:t>
            </a:r>
            <a:endParaRPr/>
          </a:p>
        </p:txBody>
      </p:sp>
      <p:sp>
        <p:nvSpPr>
          <p:cNvPr id="221" name="Google Shape;221;p20"/>
          <p:cNvSpPr txBox="1"/>
          <p:nvPr>
            <p:ph idx="1" type="body"/>
          </p:nvPr>
        </p:nvSpPr>
        <p:spPr>
          <a:xfrm>
            <a:off x="471150" y="1350650"/>
            <a:ext cx="8345400" cy="33126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In networks of agents, “consensus” means to reach an agreement regarding a certain quantity of interest that depends on the state of all agents.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achievement of consensus implies asymptotically converging to a one-dimensional agreement space characterized by the following equation:</a:t>
            </a:r>
            <a:endParaRPr sz="12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                                                                 </a:t>
            </a:r>
            <a:r>
              <a:rPr lang="en" sz="1700"/>
              <a:t> </a:t>
            </a:r>
            <a:r>
              <a:rPr lang="en" sz="1100"/>
              <a:t>V</a:t>
            </a:r>
            <a:r>
              <a:rPr lang="en" sz="900"/>
              <a:t>1</a:t>
            </a:r>
            <a:r>
              <a:rPr lang="en" sz="700"/>
              <a:t> </a:t>
            </a:r>
            <a:r>
              <a:rPr lang="en" sz="1500"/>
              <a:t>= v</a:t>
            </a:r>
            <a:r>
              <a:rPr lang="en" sz="800"/>
              <a:t>2</a:t>
            </a:r>
            <a:r>
              <a:rPr lang="en" sz="1500"/>
              <a:t> = v</a:t>
            </a:r>
            <a:r>
              <a:rPr lang="en" sz="800"/>
              <a:t>3</a:t>
            </a:r>
            <a:r>
              <a:rPr lang="en" sz="1500"/>
              <a:t> = … = v</a:t>
            </a:r>
            <a:r>
              <a:rPr lang="en" sz="800"/>
              <a:t>N</a:t>
            </a:r>
            <a:r>
              <a:rPr lang="en" sz="1000"/>
              <a:t>   </a:t>
            </a:r>
            <a:r>
              <a:rPr lang="en" sz="700"/>
              <a:t>                        </a:t>
            </a:r>
            <a:endParaRPr sz="7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In a linear system following a distributed consensus algorithm,</a:t>
            </a:r>
            <a:br>
              <a:rPr lang="en" sz="1200"/>
            </a:br>
            <a:r>
              <a:rPr lang="en" sz="1200"/>
              <a:t>	                                                </a:t>
            </a:r>
            <a:r>
              <a:rPr lang="en" sz="1500"/>
              <a:t>⩒</a:t>
            </a:r>
            <a:r>
              <a:rPr lang="en" sz="1000"/>
              <a:t>i</a:t>
            </a:r>
            <a:r>
              <a:rPr lang="en" sz="1500"/>
              <a:t>    = </a:t>
            </a:r>
            <a:r>
              <a:rPr lang="en" sz="1900"/>
              <a:t>⅀</a:t>
            </a:r>
            <a:r>
              <a:rPr lang="en" sz="1500"/>
              <a:t> </a:t>
            </a:r>
            <a:r>
              <a:rPr lang="en" sz="1400"/>
              <a:t>adj</a:t>
            </a:r>
            <a:r>
              <a:rPr lang="en" sz="900"/>
              <a:t>ij</a:t>
            </a:r>
            <a:r>
              <a:rPr lang="en" sz="1500"/>
              <a:t> ⋅ (v</a:t>
            </a:r>
            <a:r>
              <a:rPr lang="en" sz="1000"/>
              <a:t>j</a:t>
            </a:r>
            <a:r>
              <a:rPr lang="en" sz="1500"/>
              <a:t>(t) - v</a:t>
            </a:r>
            <a:r>
              <a:rPr lang="en" sz="1000"/>
              <a:t>i</a:t>
            </a:r>
            <a:r>
              <a:rPr lang="en" sz="1500"/>
              <a:t>(t))  </a:t>
            </a:r>
            <a:r>
              <a:rPr lang="en" sz="1200"/>
              <a:t>   </a:t>
            </a:r>
            <a:endParaRPr sz="12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collective dynamics of the group of agents following the distributed consensus protocol can be written as:</a:t>
            </a:r>
            <a:endParaRPr sz="11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2" name="Google Shape;222;p20"/>
          <p:cNvSpPr txBox="1"/>
          <p:nvPr/>
        </p:nvSpPr>
        <p:spPr>
          <a:xfrm>
            <a:off x="3036175" y="4010625"/>
            <a:ext cx="19554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⩒</a:t>
            </a:r>
            <a:r>
              <a:rPr lang="en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= -</a:t>
            </a: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K*V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Standard consensus approach - Plot &amp; Simulation</a:t>
            </a:r>
            <a:endParaRPr/>
          </a:p>
        </p:txBody>
      </p:sp>
      <p:sp>
        <p:nvSpPr>
          <p:cNvPr id="228" name="Google Shape;228;p21"/>
          <p:cNvSpPr txBox="1"/>
          <p:nvPr>
            <p:ph idx="1" type="body"/>
          </p:nvPr>
        </p:nvSpPr>
        <p:spPr>
          <a:xfrm>
            <a:off x="1138000" y="1567550"/>
            <a:ext cx="71985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9" name="Google Shape;22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7775" y="1913925"/>
            <a:ext cx="2647150" cy="198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1" title="Simul_ObjectTransport3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28575" y="1856837"/>
            <a:ext cx="2729925" cy="209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Ideal Centralized Cohesive control</a:t>
            </a:r>
            <a:endParaRPr/>
          </a:p>
        </p:txBody>
      </p:sp>
      <p:sp>
        <p:nvSpPr>
          <p:cNvPr id="236" name="Google Shape;236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Cohesive formation control is aimed at reducing the relative difference in the states of the robotic agents. 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In a linear system, if each agent j is provided with access to the desired velocity v</a:t>
            </a:r>
            <a:r>
              <a:rPr b="1" lang="en" sz="800"/>
              <a:t>d</a:t>
            </a:r>
            <a:r>
              <a:rPr lang="en" sz="1200"/>
              <a:t>, then the ideal cohesive update is as follows: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collective dynamics of the group of agents following the ideal cohesive formation protocol involves the use of a column vector, </a:t>
            </a:r>
            <a:r>
              <a:rPr b="1" lang="en" sz="1200">
                <a:latin typeface="EB Garamond"/>
                <a:ea typeface="EB Garamond"/>
                <a:cs typeface="EB Garamond"/>
                <a:sym typeface="EB Garamond"/>
              </a:rPr>
              <a:t>1 </a:t>
            </a:r>
            <a:r>
              <a:rPr b="1" i="1" lang="en" sz="1200">
                <a:latin typeface="Lobster"/>
                <a:ea typeface="Lobster"/>
                <a:cs typeface="Lobster"/>
                <a:sym typeface="Lobster"/>
              </a:rPr>
              <a:t> </a:t>
            </a:r>
            <a:r>
              <a:rPr lang="en" sz="1200"/>
              <a:t>with all its elements as 1. The representation of the network is as follows: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237" name="Google Shape;23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6325" y="2447913"/>
            <a:ext cx="2262100" cy="33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1675" y="3438650"/>
            <a:ext cx="1996705" cy="26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Cohesive formation control - Centralized approach </a:t>
            </a:r>
            <a:endParaRPr/>
          </a:p>
        </p:txBody>
      </p:sp>
      <p:sp>
        <p:nvSpPr>
          <p:cNvPr id="244" name="Google Shape;244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5" name="Google Shape;24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5075" y="1964413"/>
            <a:ext cx="2823299" cy="211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3" title="Simul_ObjectTransport2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58550" y="1921838"/>
            <a:ext cx="2879600" cy="225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Cohesive formation control</a:t>
            </a:r>
            <a:endParaRPr/>
          </a:p>
        </p:txBody>
      </p:sp>
      <p:sp>
        <p:nvSpPr>
          <p:cNvPr id="252" name="Google Shape;252;p24"/>
          <p:cNvSpPr txBox="1"/>
          <p:nvPr>
            <p:ph idx="1" type="body"/>
          </p:nvPr>
        </p:nvSpPr>
        <p:spPr>
          <a:xfrm>
            <a:off x="1297500" y="1567550"/>
            <a:ext cx="7614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Cohesive formation control is aimed at reducing the relative difference in the states of the robotic agents. 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In a linear system, if each agent </a:t>
            </a:r>
            <a:r>
              <a:rPr b="1" i="1" lang="en" sz="1200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j </a:t>
            </a:r>
            <a:r>
              <a:rPr lang="en" sz="1200"/>
              <a:t>is provided with access to the desired velocity </a:t>
            </a:r>
            <a:r>
              <a:rPr b="1" i="1" lang="en" sz="1200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</a:t>
            </a:r>
            <a:r>
              <a:rPr b="1" i="1" lang="en" sz="800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</a:t>
            </a:r>
            <a:r>
              <a:rPr lang="en" sz="1200"/>
              <a:t>, then the ideal cohesive update is as follows: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collective dynamics of the group of agents following the ideal cohesive formation protocol involves the use of a column vector, </a:t>
            </a:r>
            <a:r>
              <a:rPr b="1" lang="en" sz="1200">
                <a:latin typeface="EB Garamond"/>
                <a:ea typeface="EB Garamond"/>
                <a:cs typeface="EB Garamond"/>
                <a:sym typeface="EB Garamond"/>
              </a:rPr>
              <a:t>1 </a:t>
            </a:r>
            <a:r>
              <a:rPr b="1" i="1" lang="en" sz="1200">
                <a:latin typeface="Lobster"/>
                <a:ea typeface="Lobster"/>
                <a:cs typeface="Lobster"/>
                <a:sym typeface="Lobster"/>
              </a:rPr>
              <a:t> </a:t>
            </a:r>
            <a:r>
              <a:rPr lang="en" sz="1200"/>
              <a:t>with all its elements as 1. The representation of the network is as follows: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In order to decentralize the system, </a:t>
            </a:r>
            <a:r>
              <a:rPr b="1" i="1" lang="en" sz="1450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β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00"/>
              <a:t>scaled laplacian </a:t>
            </a:r>
            <a:r>
              <a:rPr b="1" i="1" lang="en" sz="1200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</a:t>
            </a:r>
            <a:r>
              <a:rPr lang="en" sz="1200"/>
              <a:t> is multiplied on both sides of the above equation:</a:t>
            </a:r>
            <a:endParaRPr sz="12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253" name="Google Shape;25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7200" y="2369150"/>
            <a:ext cx="2262100" cy="33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7200" y="3378100"/>
            <a:ext cx="1996705" cy="2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08200" y="4066300"/>
            <a:ext cx="2454700" cy="38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1100" y="4524950"/>
            <a:ext cx="3290366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4"/>
          <p:cNvSpPr txBox="1"/>
          <p:nvPr/>
        </p:nvSpPr>
        <p:spPr>
          <a:xfrm>
            <a:off x="6919350" y="4524950"/>
            <a:ext cx="10680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(Eq.1)</a:t>
            </a:r>
            <a:endParaRPr b="1" i="1"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5"/>
          <p:cNvSpPr txBox="1"/>
          <p:nvPr>
            <p:ph type="title"/>
          </p:nvPr>
        </p:nvSpPr>
        <p:spPr>
          <a:xfrm>
            <a:off x="929550" y="434625"/>
            <a:ext cx="75426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Cohesive formation control - Decentralized approach (</a:t>
            </a:r>
            <a:r>
              <a:rPr lang="en"/>
              <a:t>Ideal)</a:t>
            </a:r>
            <a:r>
              <a:rPr lang="en"/>
              <a:t> </a:t>
            </a:r>
            <a:endParaRPr/>
          </a:p>
        </p:txBody>
      </p:sp>
      <p:sp>
        <p:nvSpPr>
          <p:cNvPr id="263" name="Google Shape;263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2850" y="1967012"/>
            <a:ext cx="2586026" cy="193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5" title="Simul_ObjectTransport4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89675" y="1992300"/>
            <a:ext cx="2772851" cy="188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Delay in physical systems</a:t>
            </a:r>
            <a:endParaRPr/>
          </a:p>
        </p:txBody>
      </p:sp>
      <p:sp>
        <p:nvSpPr>
          <p:cNvPr id="271" name="Google Shape;271;p26"/>
          <p:cNvSpPr txBox="1"/>
          <p:nvPr>
            <p:ph idx="1" type="body"/>
          </p:nvPr>
        </p:nvSpPr>
        <p:spPr>
          <a:xfrm>
            <a:off x="872875" y="1043475"/>
            <a:ext cx="7038900" cy="33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In real-life robotic systems, delays are detrimental. Delays introduce a time lag between when the system's state is measured and when the controller reacts. This can lead to instability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actuators in physical systems have inherent limitations, that increase the response time and thus, making them unsuitable for the real-time setup.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experimental robots, like the Turtlebot in the DIRo Lab follow a damped first order dynamics. The transfer function in frequency domain and thus, the expression in time domain are as follows: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As a consequence of the delay in the actuators, an additional exponential delay term, </a:t>
            </a:r>
            <a:r>
              <a:rPr b="1" i="1" lang="en" sz="1200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</a:t>
            </a:r>
            <a:r>
              <a:rPr lang="en" sz="1200"/>
              <a:t> is incorporated in the above equation as follows:</a:t>
            </a:r>
            <a:endParaRPr sz="1200"/>
          </a:p>
        </p:txBody>
      </p:sp>
      <p:pic>
        <p:nvPicPr>
          <p:cNvPr id="272" name="Google Shape;27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9850" y="2626525"/>
            <a:ext cx="127635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7675" y="2725763"/>
            <a:ext cx="1733421" cy="269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4" name="Google Shape;274;p26"/>
          <p:cNvCxnSpPr/>
          <p:nvPr/>
        </p:nvCxnSpPr>
        <p:spPr>
          <a:xfrm>
            <a:off x="3588675" y="2858375"/>
            <a:ext cx="785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75" name="Google Shape;27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36025" y="4003200"/>
            <a:ext cx="1815849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6"/>
          <p:cNvSpPr txBox="1"/>
          <p:nvPr/>
        </p:nvSpPr>
        <p:spPr>
          <a:xfrm>
            <a:off x="6075975" y="3943300"/>
            <a:ext cx="10680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(Eq.2)</a:t>
            </a:r>
            <a:endParaRPr b="1" i="1"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of Turtlebot </a:t>
            </a:r>
            <a:endParaRPr/>
          </a:p>
        </p:txBody>
      </p:sp>
      <p:sp>
        <p:nvSpPr>
          <p:cNvPr id="282" name="Google Shape;282;p27"/>
          <p:cNvSpPr txBox="1"/>
          <p:nvPr>
            <p:ph idx="1" type="body"/>
          </p:nvPr>
        </p:nvSpPr>
        <p:spPr>
          <a:xfrm>
            <a:off x="146988" y="1017725"/>
            <a:ext cx="8850000" cy="35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The velocity response of the Turtlebot to a step input is recorded and analyzed for determining the values of damping factor, a and delay term, </a:t>
            </a:r>
            <a:r>
              <a:rPr b="1" i="1" lang="en" sz="1200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</a:t>
            </a:r>
            <a:endParaRPr b="1" i="1" sz="1200">
              <a:solidFill>
                <a:srgbClr val="FFFF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283" name="Google Shape;28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950" y="1557446"/>
            <a:ext cx="4340625" cy="325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Effect of delay on cohesive approach - Loss of cohesion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"/>
          <p:cNvSpPr txBox="1"/>
          <p:nvPr>
            <p:ph idx="1" type="body"/>
          </p:nvPr>
        </p:nvSpPr>
        <p:spPr>
          <a:xfrm>
            <a:off x="169125" y="12859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Analyzing equation-1 it is observed that the time derivative appears on both sides of the equation. But, in order to approximate the time derivative term in the RHS, the following approximation is employed:</a:t>
            </a:r>
            <a:endParaRPr sz="12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200"/>
            </a:b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When the system input is delayed by an additional term </a:t>
            </a:r>
            <a:r>
              <a:rPr b="1" i="1" lang="en" sz="1200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</a:t>
            </a:r>
            <a:r>
              <a:rPr lang="en" sz="1200"/>
              <a:t>, the equation-2 is expressed as follows: </a:t>
            </a:r>
            <a:endParaRPr sz="12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 </a:t>
            </a:r>
            <a:endParaRPr sz="12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where </a:t>
            </a:r>
            <a:r>
              <a:rPr b="1" i="1" lang="en" sz="1200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</a:t>
            </a:r>
            <a:r>
              <a:rPr b="1" i="1" lang="en" sz="900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</a:t>
            </a:r>
            <a:r>
              <a:rPr b="1" i="1" lang="en" sz="1200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(t)</a:t>
            </a:r>
            <a:r>
              <a:rPr lang="en" sz="1200"/>
              <a:t> is,</a:t>
            </a:r>
            <a:endParaRPr sz="12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above equation simplifies as follows:</a:t>
            </a:r>
            <a:endParaRPr sz="12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290" name="Google Shape;29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9866" y="1798250"/>
            <a:ext cx="2563865" cy="408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9325" y="2737747"/>
            <a:ext cx="4644947" cy="351031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8"/>
          <p:cNvSpPr txBox="1"/>
          <p:nvPr/>
        </p:nvSpPr>
        <p:spPr>
          <a:xfrm>
            <a:off x="7719400" y="4222700"/>
            <a:ext cx="10680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(Eq.4)</a:t>
            </a:r>
            <a:endParaRPr b="1" i="1" sz="1200">
              <a:solidFill>
                <a:schemeClr val="dk2"/>
              </a:solidFill>
            </a:endParaRPr>
          </a:p>
        </p:txBody>
      </p:sp>
      <p:sp>
        <p:nvSpPr>
          <p:cNvPr id="293" name="Google Shape;293;p28"/>
          <p:cNvSpPr txBox="1"/>
          <p:nvPr/>
        </p:nvSpPr>
        <p:spPr>
          <a:xfrm>
            <a:off x="7518225" y="1798250"/>
            <a:ext cx="10680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(Eq.3)</a:t>
            </a:r>
            <a:endParaRPr b="1" i="1" sz="1200">
              <a:solidFill>
                <a:schemeClr val="dk2"/>
              </a:solidFill>
            </a:endParaRPr>
          </a:p>
        </p:txBody>
      </p:sp>
      <p:pic>
        <p:nvPicPr>
          <p:cNvPr id="294" name="Google Shape;294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50650" y="4083625"/>
            <a:ext cx="5685351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69500" y="3293475"/>
            <a:ext cx="5024605" cy="2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Effect of delay</a:t>
            </a:r>
            <a:endParaRPr/>
          </a:p>
        </p:txBody>
      </p:sp>
      <p:sp>
        <p:nvSpPr>
          <p:cNvPr id="301" name="Google Shape;301;p2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2" name="Google Shape;30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775" y="1680900"/>
            <a:ext cx="3579326" cy="2684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9" title="Simul_ObjectTransport5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1773400"/>
            <a:ext cx="3740076" cy="259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Compensating the delay</a:t>
            </a:r>
            <a:endParaRPr sz="1600"/>
          </a:p>
        </p:txBody>
      </p:sp>
      <p:sp>
        <p:nvSpPr>
          <p:cNvPr id="309" name="Google Shape;309;p30"/>
          <p:cNvSpPr txBox="1"/>
          <p:nvPr>
            <p:ph idx="1" type="body"/>
          </p:nvPr>
        </p:nvSpPr>
        <p:spPr>
          <a:xfrm>
            <a:off x="1055650" y="1175450"/>
            <a:ext cx="7280700" cy="33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It is observed on expansion that the loss of cohesion is primarily due to the damping based term in the RHS of equation-4.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Further as the </a:t>
            </a:r>
            <a:r>
              <a:rPr b="1" i="1" lang="en" sz="1200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</a:t>
            </a:r>
            <a:r>
              <a:rPr b="1" i="1" lang="en" sz="1000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</a:t>
            </a:r>
            <a:r>
              <a:rPr lang="en" sz="1200"/>
              <a:t> increases, the system becomes unstable and loses formation.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Upon analyzing the time derivative term, one can conclude that for adequate</a:t>
            </a:r>
            <a:r>
              <a:rPr lang="en" sz="1200"/>
              <a:t>ly </a:t>
            </a:r>
            <a:r>
              <a:rPr lang="en" sz="1200"/>
              <a:t>small sampling interval, the first order approximations of the derivatives can be </a:t>
            </a:r>
            <a:r>
              <a:rPr lang="en" sz="1200"/>
              <a:t>assumed to</a:t>
            </a:r>
            <a:r>
              <a:rPr lang="en" sz="1200"/>
              <a:t> have the same value. In other words,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So a possible solution is the incorporation of </a:t>
            </a:r>
            <a:r>
              <a:rPr b="1" i="1" lang="en" sz="1200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a*T</a:t>
            </a:r>
            <a:r>
              <a:rPr b="1" i="1" lang="en" sz="800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</a:t>
            </a:r>
            <a:r>
              <a:rPr lang="en" sz="1200"/>
              <a:t> term in the equation-4 such that:</a:t>
            </a:r>
            <a:endParaRPr sz="12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310" name="Google Shape;31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1525" y="2680325"/>
            <a:ext cx="1726825" cy="48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8313" y="3850830"/>
            <a:ext cx="5987674" cy="36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1"/>
          <p:cNvSpPr txBox="1"/>
          <p:nvPr>
            <p:ph type="title"/>
          </p:nvPr>
        </p:nvSpPr>
        <p:spPr>
          <a:xfrm>
            <a:off x="980775" y="393750"/>
            <a:ext cx="73557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Delay compensation</a:t>
            </a:r>
            <a:endParaRPr/>
          </a:p>
        </p:txBody>
      </p:sp>
      <p:sp>
        <p:nvSpPr>
          <p:cNvPr id="317" name="Google Shape;317;p3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8" name="Google Shape;31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500" y="1366345"/>
            <a:ext cx="4088100" cy="306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31" title="Simul_ObjectTransport6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4850" y="1444975"/>
            <a:ext cx="3789426" cy="298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2"/>
          <p:cNvSpPr txBox="1"/>
          <p:nvPr>
            <p:ph idx="1" type="body"/>
          </p:nvPr>
        </p:nvSpPr>
        <p:spPr>
          <a:xfrm>
            <a:off x="721000" y="81887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4800">
                <a:latin typeface="Times New Roman"/>
                <a:ea typeface="Times New Roman"/>
                <a:cs typeface="Times New Roman"/>
                <a:sym typeface="Times New Roman"/>
              </a:rPr>
              <a:t>            </a:t>
            </a:r>
            <a:r>
              <a:rPr lang="en" sz="4800"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endParaRPr sz="4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